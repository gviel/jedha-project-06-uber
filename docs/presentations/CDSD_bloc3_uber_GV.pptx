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Roboto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7">
          <p15:clr>
            <a:srgbClr val="747775"/>
          </p15:clr>
        </p15:guide>
        <p15:guide id="2" pos="5556">
          <p15:clr>
            <a:srgbClr val="747775"/>
          </p15:clr>
        </p15:guide>
        <p15:guide id="3" orient="horz" pos="3005">
          <p15:clr>
            <a:srgbClr val="747775"/>
          </p15:clr>
        </p15:guide>
        <p15:guide id="4" orient="horz" pos="45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7"/>
        <p:guide pos="5556"/>
        <p:guide pos="3005" orient="horz"/>
        <p:guide pos="45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Light-italic.fntdata"/><Relationship Id="rId30" Type="http://schemas.openxmlformats.org/officeDocument/2006/relationships/font" Target="fonts/Roboto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bf453f1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bf453f1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e0dac29e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e0dac29e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e0dac29e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e0dac29e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e16615d1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e16615d1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e42bc4f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e42bc4f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e42bc4f8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e42bc4f8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e42bc4f8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e42bc4f8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e42bc4f8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e42bc4f8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6af012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56af012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e42bc4f8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e42bc4f8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e42bc4f8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e42bc4f8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e42bc4f8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e42bc4f8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42bc4f8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e42bc4f8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f6ef7ef3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f6ef7ef3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f6ef7ef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f6ef7ef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6af012e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56af012e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56af012e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56af012e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df06be40a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df06be40a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gviel/jedha-project-06-uber" TargetMode="External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jedha-project-06-uber-e5a6exs9vw6pv6o6onweus.streamlit.app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9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0000" y="1601375"/>
            <a:ext cx="846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Bloc 3 : Analyse prédictive de données structurées par l'intelligence artificielle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0000" y="193102"/>
            <a:ext cx="5591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Jedha - Data Science Fullstack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0000" y="691740"/>
            <a:ext cx="846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Certification CDSD (</a:t>
            </a: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Concepteur développeur en science des données)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3100" y="360000"/>
            <a:ext cx="576900" cy="392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3"/>
          <p:cNvCxnSpPr/>
          <p:nvPr/>
        </p:nvCxnSpPr>
        <p:spPr>
          <a:xfrm>
            <a:off x="365400" y="1125299"/>
            <a:ext cx="8458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/>
        </p:nvSpPr>
        <p:spPr>
          <a:xfrm>
            <a:off x="291750" y="2920645"/>
            <a:ext cx="8528400" cy="573000"/>
          </a:xfrm>
          <a:prstGeom prst="rect">
            <a:avLst/>
          </a:prstGeom>
          <a:solidFill>
            <a:srgbClr val="FFFFFF">
              <a:alpha val="203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</a:rPr>
              <a:t>Optimiser l’offre et la demande par détection des hot-zones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91625" y="4743950"/>
            <a:ext cx="852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Guillaume VIEL - 21 juillet 2026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813075" y="4005963"/>
            <a:ext cx="157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hlinkClick r:id="rId4"/>
              </a:rPr>
              <a:t>Dépôt Github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9175" y="3767351"/>
            <a:ext cx="1391175" cy="78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Contexte et besoins du projet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65400" y="754908"/>
            <a:ext cx="8454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357825" y="757626"/>
            <a:ext cx="8580000" cy="3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Uber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startup mondiale leader dans la mobilité, présente dans 70 pays et 900 villes, avec un CA de 14 milliards de dollars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Activités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VTC, livraison de repas (Uber Eats), colis, fret, etc.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 Révolutionner les transports à l’échelle mondiale</a:t>
            </a:r>
            <a:b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Problème identifié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déséquilibre entre offre (conducteurs) et demande (utilisateurs)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résultat : temps d’attente de 10–15 min -&gt; seuil critique, car les utilisateurs annulent au-delà de 5–7 min</a:t>
            </a:r>
            <a:b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Besoin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développer un système pour recommander aux conducteurs des "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hot-zones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" (zones à forte demande) en (pseudo-)temps réel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Objectifs et périmètre du projet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57825" y="736775"/>
            <a:ext cx="8511300" cy="3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créer un algorithme pour identifier les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hot-zones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en fonction des données de trajets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développer un tableau de bord ou cartes pour visualiser les résultats de manière intuitive</a:t>
            </a:r>
            <a:b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Périmètre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Ville cible : New York (phase pilote)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Données :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Utilisation exclusive des données Uber Trip Data pour NYC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■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sur année 2014 et 2015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9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02850" y="1990425"/>
            <a:ext cx="84546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exploration	: phase 1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compréhension du dataset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cleaning, préparation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Analyse du trafic - par mois et année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6316075" y="841675"/>
            <a:ext cx="2755200" cy="3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trafic en plein croissance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 de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saisonnalité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apparente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 mois manquants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difficulté d’exploiter les données de 2015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 de coordonnées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coordonnées des bases non liées à la course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7" title="Nb_courses_par_mo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2" y="841675"/>
            <a:ext cx="6218050" cy="378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Analyse des jours et heure (data 2014)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013950" y="806324"/>
            <a:ext cx="30312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4 534 327 pickups : dataset volumineux</a:t>
            </a:r>
            <a:b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jeudi et vendredi les +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chargés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mardi au samedi : 3/4 des courses</a:t>
            </a:r>
            <a:b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HP Matin : 6h-9h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HP Soir : 16h-19h (voire 15h à 21h)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8" title="Nb_course_par_j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8" y="780650"/>
            <a:ext cx="6083200" cy="18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 title="Nb_course_par_heu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00" y="2769388"/>
            <a:ext cx="5900013" cy="179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Analyse jours x heure par </a:t>
            </a: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heatmap </a:t>
            </a: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(data 2014)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22300" y="3252925"/>
            <a:ext cx="89850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week-end + lundi plus calmes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essentiel concentré sur semaine, surtout jeudi et vendredi en HPS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HPM et HPS marquées aux mêmes heures sur la semaine, sauf week-end pour laquelle l'HPM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disparaît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HP Matin : 6h-9h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HP Soir : 16h-19h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9" title="Heatmap_jour_x_he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1200"/>
            <a:ext cx="9144002" cy="268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9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/>
        </p:nvSpPr>
        <p:spPr>
          <a:xfrm>
            <a:off x="302850" y="1990425"/>
            <a:ext cx="84546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Machine Learning : </a:t>
            </a: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phase 2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modélisation non supervisée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Réduction du dataset pour un premier modèle de clustering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360000" y="1552075"/>
            <a:ext cx="8685000" cy="28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 va garder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 mois de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septembre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(le plus chargé)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 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jeudi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qui est la journée type la plus chargée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sur l'</a:t>
            </a: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HPS de 16h à 19h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pour l’homogénéité (ou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l’HPM de 6h à 9)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=&gt; 44.194 courses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50200" y="828600"/>
            <a:ext cx="86850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Pour réduire la taille des données tout en gardant une bonne représentativité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264089" y="2525"/>
            <a:ext cx="8659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Choix du nombre de clusters : WCSS method + silhouette score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2" title="kmeans_wss_elb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500" y="927425"/>
            <a:ext cx="4108950" cy="2282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title="kmeans_silhouet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30" y="722524"/>
            <a:ext cx="5048575" cy="28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546175" y="3477050"/>
            <a:ext cx="8221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Silhouette score chute fortement jusqu'à k≈8–10 (mais cluster trop larges)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puis chute encore vers k=21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fr" sz="1700">
                <a:solidFill>
                  <a:schemeClr val="dk2"/>
                </a:solidFill>
              </a:rPr>
              <a:t>WCSS ne diminue plus notablement au delà de k=15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2"/>
                </a:solidFill>
              </a:rPr>
              <a:t>→ on choisira k=21 comme nombre de clusters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Premier modèle KMeans (jeudi sept 2014 HPS 16-19h)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822900" y="833300"/>
            <a:ext cx="3257400" cy="3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 = 21 clusters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metric=manhattan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1000 iterations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mais…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NYC trop compacte et concentrée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lecture difficile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difficulté sur le choix du nombre de clusters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sensible aux outliers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23" title="2.2.3_fig_01_kmeans_jeudis_sept_h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3861"/>
            <a:ext cx="5822903" cy="407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Premier modèle KMeans (jeudi sept 2014 HPS 16-19h)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5877250" y="874926"/>
            <a:ext cx="31941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affichage des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centroïdes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avec leurs poids respectifs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permet meilleure visu des hot-zones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mais…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serait préférable d’ajouter polygones des hot-zones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+ la densité des courses/m2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adaptation taille 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centroïdes</a:t>
            </a:r>
            <a:r>
              <a:rPr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/ zoom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4" title="KMeans_1_centro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4925"/>
            <a:ext cx="5366635" cy="374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Amélioration du modèle</a:t>
            </a: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: DBScan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923475" y="882725"/>
            <a:ext cx="3126600" cy="3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trouve de lui-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même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les clusters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élimine les outliers automatiquement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mais…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EPS_M=200m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MIN_SAMPLES=50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paramétrage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très sensible pour obtenir un rendu correct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7200"/>
            <a:ext cx="5728717" cy="396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Amélioration du modèle : HDBScan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5688025" y="947750"/>
            <a:ext cx="33210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EPS_M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varie automatiquement donc trouve mieux les densités différentes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méthode “leaf” : clusters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plus granulaires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moins stables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○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moins gros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75" y="794700"/>
            <a:ext cx="5466776" cy="39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Amélioration du modèle : H3 bining hexagonal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6029475" y="947750"/>
            <a:ext cx="29586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simple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 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d’hyperparamètres</a:t>
            </a: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! (hormis la taille de l’hexagone)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calcul de la densité immédiat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visu plus précise des spots très denses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4925"/>
            <a:ext cx="5529140" cy="374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Généralisation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76900" y="1011175"/>
            <a:ext cx="7855800" cy="1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 heure et par jour sur un dashboard Streamlit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https://jedha-project-06-uber-e5a6exs9vw6pv6o6onweus.streamlit.app/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9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302850" y="1990425"/>
            <a:ext cx="84546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Conclusions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/>
          <p:nvPr/>
        </p:nvSpPr>
        <p:spPr>
          <a:xfrm>
            <a:off x="0" y="0"/>
            <a:ext cx="9145200" cy="72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/>
        </p:nvSpPr>
        <p:spPr>
          <a:xfrm>
            <a:off x="365400" y="2525"/>
            <a:ext cx="8454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6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Conclusions</a:t>
            </a:r>
            <a:endParaRPr sz="2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576900" y="1011175"/>
            <a:ext cx="7855800" cy="1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K-Means pas très adapté dans ce cas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●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Modèle H3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plus simple à mettre en oeuvre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Char char="○"/>
            </a:pPr>
            <a:r>
              <a:rPr b="1" lang="fr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plus efficace en terme de visualisation</a:t>
            </a:r>
            <a:endParaRPr b="1"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-600" y="4774300"/>
            <a:ext cx="9145200" cy="3600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 txBox="1"/>
          <p:nvPr/>
        </p:nvSpPr>
        <p:spPr>
          <a:xfrm>
            <a:off x="365400" y="4774300"/>
            <a:ext cx="845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Jedha - Certification CDSD - Bloc 3 - Guillaume VIEL - 21 juillet 2026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900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/>
        </p:nvSpPr>
        <p:spPr>
          <a:xfrm>
            <a:off x="291625" y="2023850"/>
            <a:ext cx="846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Questions ?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360000" y="193102"/>
            <a:ext cx="5591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Jedha - Data Science Fullstack</a:t>
            </a:r>
            <a:endParaRPr sz="3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360000" y="691740"/>
            <a:ext cx="846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Certification CDSD (Concepteur développeur en science des données)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33" name="Google Shape;2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3100" y="360000"/>
            <a:ext cx="576900" cy="3927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31"/>
          <p:cNvCxnSpPr/>
          <p:nvPr/>
        </p:nvCxnSpPr>
        <p:spPr>
          <a:xfrm>
            <a:off x="365400" y="1125299"/>
            <a:ext cx="8458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31"/>
          <p:cNvSpPr txBox="1"/>
          <p:nvPr/>
        </p:nvSpPr>
        <p:spPr>
          <a:xfrm>
            <a:off x="291625" y="4743950"/>
            <a:ext cx="8528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Guillaume VIEL - 21 juillet 2026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