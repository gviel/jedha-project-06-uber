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Roboto"/>
      <p:regular r:id="rId22"/>
      <p:bold r:id="rId23"/>
      <p:italic r:id="rId24"/>
      <p:boldItalic r:id="rId25"/>
    </p:embeddedFont>
    <p:embeddedFont>
      <p:font typeface="Roboto Light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227">
          <p15:clr>
            <a:srgbClr val="747775"/>
          </p15:clr>
        </p15:guide>
        <p15:guide id="2" pos="5556">
          <p15:clr>
            <a:srgbClr val="747775"/>
          </p15:clr>
        </p15:guide>
        <p15:guide id="3" orient="horz" pos="3005">
          <p15:clr>
            <a:srgbClr val="747775"/>
          </p15:clr>
        </p15:guide>
        <p15:guide id="4" orient="horz" pos="45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27"/>
        <p:guide pos="5556"/>
        <p:guide pos="3005" orient="horz"/>
        <p:guide pos="454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Roboto-regular.fntdata"/><Relationship Id="rId21" Type="http://schemas.openxmlformats.org/officeDocument/2006/relationships/slide" Target="slides/slide16.xml"/><Relationship Id="rId24" Type="http://schemas.openxmlformats.org/officeDocument/2006/relationships/font" Target="fonts/Roboto-italic.fntdata"/><Relationship Id="rId23" Type="http://schemas.openxmlformats.org/officeDocument/2006/relationships/font" Target="fonts/Roboto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RobotoLight-regular.fntdata"/><Relationship Id="rId25" Type="http://schemas.openxmlformats.org/officeDocument/2006/relationships/font" Target="fonts/Roboto-boldItalic.fntdata"/><Relationship Id="rId28" Type="http://schemas.openxmlformats.org/officeDocument/2006/relationships/font" Target="fonts/RobotoLight-italic.fntdata"/><Relationship Id="rId27" Type="http://schemas.openxmlformats.org/officeDocument/2006/relationships/font" Target="fonts/RobotoLight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RobotoLight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bf453f15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ebf453f15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ee0dac29e3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ee0dac29e3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ee0dac29e3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ee0dac29e3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ee16615d1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ee16615d1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ee42bc4f8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ee42bc4f8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ee42bc4f8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ee42bc4f8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ee42bc4f86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ee42bc4f86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ee42bc4f86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ee42bc4f86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ee42bc4f86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ee42bc4f86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ee42bc4f86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ee42bc4f86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ee42bc4f86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ee42bc4f86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ee42bc4f86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ee42bc4f86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ef6ef7ef33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ef6ef7ef33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ef6ef7ef3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ef6ef7ef3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edf06be40a_0_3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edf06be40a_0_3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gviel/jedha-project-06-uber" TargetMode="External"/><Relationship Id="rId5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jedha-project-06-uber-e5a6exs9vw6pv6o6onweus.streamlit.app/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BF9000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60000" y="1601375"/>
            <a:ext cx="84600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Bloc 3 : Analyse prédictive de données structurées par l'intelligence artificielle</a:t>
            </a:r>
            <a:endParaRPr sz="30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360000" y="193102"/>
            <a:ext cx="5591100" cy="10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Jedha - Data Science Fullstack</a:t>
            </a:r>
            <a:endParaRPr sz="30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00">
              <a:solidFill>
                <a:schemeClr val="lt1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60000" y="691740"/>
            <a:ext cx="846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 Certification CDSD (</a:t>
            </a:r>
            <a:r>
              <a:rPr lang="fr" sz="16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Concepteur développeur en science des données)</a:t>
            </a:r>
            <a:endParaRPr sz="16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57" name="Google Shape;5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43100" y="360000"/>
            <a:ext cx="576900" cy="39278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8" name="Google Shape;58;p13"/>
          <p:cNvCxnSpPr/>
          <p:nvPr/>
        </p:nvCxnSpPr>
        <p:spPr>
          <a:xfrm>
            <a:off x="365400" y="1125299"/>
            <a:ext cx="84588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9" name="Google Shape;59;p13"/>
          <p:cNvSpPr txBox="1"/>
          <p:nvPr/>
        </p:nvSpPr>
        <p:spPr>
          <a:xfrm>
            <a:off x="291750" y="2920645"/>
            <a:ext cx="8528400" cy="573000"/>
          </a:xfrm>
          <a:prstGeom prst="rect">
            <a:avLst/>
          </a:prstGeom>
          <a:solidFill>
            <a:srgbClr val="FFFFFF">
              <a:alpha val="20360"/>
            </a:srgbClr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</a:rPr>
              <a:t>Optimiser l’offre et la demande par détection des hot-zones</a:t>
            </a:r>
            <a:endParaRPr sz="2400">
              <a:solidFill>
                <a:schemeClr val="lt1"/>
              </a:solidFill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291625" y="4743950"/>
            <a:ext cx="8528400" cy="2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Guillaume VIEL - 21 juillet 2026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3"/>
          <p:cNvSpPr txBox="1"/>
          <p:nvPr/>
        </p:nvSpPr>
        <p:spPr>
          <a:xfrm>
            <a:off x="5813075" y="4005963"/>
            <a:ext cx="15747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u="sng">
                <a:solidFill>
                  <a:schemeClr val="hlink"/>
                </a:solidFill>
                <a:hlinkClick r:id="rId4"/>
              </a:rPr>
              <a:t>Dépôt Github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62" name="Google Shape;62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99175" y="3767351"/>
            <a:ext cx="1391175" cy="781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4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14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Contexte et besoins du projet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365400" y="754908"/>
            <a:ext cx="8454600" cy="5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134F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357825" y="757626"/>
            <a:ext cx="8580000" cy="397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Contexte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Uber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, startup mondiale leader dans la mobilité, présente dans 70 pays et 900 villes, avec un CA de 14 milliards de dollars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Activités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: VTC, livraison de repas (Uber Eats), colis, fret, etc.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Mission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: Révolutionner les transports à l’échelle mondiale</a:t>
            </a:r>
            <a:b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Problème identifié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déséquilibre entre offre (conducteurs) et demande (utilisateurs)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résultat : temps d’attente de 10–15 min -&gt; seuil critique, car les utilisateurs annulent au-delà de 5–7 min</a:t>
            </a:r>
            <a:b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Besoin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: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développer un système pour recommander aux conducteurs des "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hot-zones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" (zones à forte demande) en (pseudo-)temps réel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4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3 -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5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Objectifs et périmètre du projet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9" name="Google Shape;79;p15"/>
          <p:cNvSpPr txBox="1"/>
          <p:nvPr/>
        </p:nvSpPr>
        <p:spPr>
          <a:xfrm>
            <a:off x="357825" y="736775"/>
            <a:ext cx="8511300" cy="378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Objectif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créer un algorithme pour identifier les </a:t>
            </a: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hot-zones</a:t>
            </a: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en fonction des données de trajets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développer un tableau de bord ou cartes pour visualiser les résultats de manière intuitive</a:t>
            </a:r>
            <a:b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Périmètre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Ville cible : New York (phase pilote)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Données :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2" marL="13716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■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Utilisation exclusive des données Uber Trip Data pour NYC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2" marL="13716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■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sur année 2014 et 2015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5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5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3 -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BF9000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6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6"/>
          <p:cNvSpPr txBox="1"/>
          <p:nvPr/>
        </p:nvSpPr>
        <p:spPr>
          <a:xfrm>
            <a:off x="302850" y="1990425"/>
            <a:ext cx="8454600" cy="142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Data exploration	: phase 1</a:t>
            </a:r>
            <a:endParaRPr b="1"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compréhension du dataset</a:t>
            </a:r>
            <a:endParaRPr b="1"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cleaning, préparation</a:t>
            </a:r>
            <a:endParaRPr b="1"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6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3 -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7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7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Analyse du trafic - par mois et année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 txBox="1"/>
          <p:nvPr/>
        </p:nvSpPr>
        <p:spPr>
          <a:xfrm>
            <a:off x="6316075" y="841675"/>
            <a:ext cx="2755200" cy="38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trafic en plein croissance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pas de </a:t>
            </a: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saisonnalité</a:t>
            </a: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apparente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des mois manquants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difficulté d’exploiter les données de 2015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pas de coordonnées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coordonnées des bases non liées à la course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7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3 -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" name="Google Shape;99;p17" title="Nb_courses_par_moi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282" y="841675"/>
            <a:ext cx="6218050" cy="3785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8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8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Analyse des jours et heure (data 2014)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6" name="Google Shape;106;p18"/>
          <p:cNvSpPr txBox="1"/>
          <p:nvPr/>
        </p:nvSpPr>
        <p:spPr>
          <a:xfrm>
            <a:off x="6013950" y="806324"/>
            <a:ext cx="3031200" cy="395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4 534 327 pickups : dataset volumineux</a:t>
            </a:r>
            <a:b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jeudi et vendredi les + </a:t>
            </a: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chargés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mardi au samedi : 3/4 des courses</a:t>
            </a:r>
            <a:b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HP Matin : 6h-9h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HP Soir : 16h-19h (voire 15h à 21h)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8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8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3 -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18" title="Nb_course_par_jou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938" y="780650"/>
            <a:ext cx="6083200" cy="185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8" title="Nb_course_par_he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700" y="2769388"/>
            <a:ext cx="5900013" cy="17963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9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Analyse jours x heure par </a:t>
            </a: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heatmap </a:t>
            </a: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(data 2014)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17" name="Google Shape;117;p19"/>
          <p:cNvSpPr txBox="1"/>
          <p:nvPr/>
        </p:nvSpPr>
        <p:spPr>
          <a:xfrm>
            <a:off x="122300" y="3252925"/>
            <a:ext cx="8985000" cy="152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week-end + lundi plus calmes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essentiel concentré sur semaine, surtout jeudi et vendredi en HPS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HPM et HPS marquées aux mêmes heures sur la semaine, sauf week-end pour laquelle l'HPM 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disparaît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HP Matin : 6h-9h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HP Soir : 16h-19h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19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3 -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19" title="Heatmap_jour_x_heu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741200"/>
            <a:ext cx="9144002" cy="2685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BF9000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20"/>
          <p:cNvSpPr txBox="1"/>
          <p:nvPr/>
        </p:nvSpPr>
        <p:spPr>
          <a:xfrm>
            <a:off x="302850" y="1990425"/>
            <a:ext cx="8454600" cy="142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Machine Learning : </a:t>
            </a:r>
            <a:r>
              <a:rPr b="1" lang="fr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phase 2</a:t>
            </a:r>
            <a:endParaRPr b="1"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modélisation non supervisée</a:t>
            </a:r>
            <a:endParaRPr b="1"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7" name="Google Shape;127;p20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20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3 -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1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1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Réduction du dataset pour un premier modèle de clustering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35" name="Google Shape;135;p21"/>
          <p:cNvSpPr txBox="1"/>
          <p:nvPr/>
        </p:nvSpPr>
        <p:spPr>
          <a:xfrm>
            <a:off x="360000" y="1552075"/>
            <a:ext cx="8685000" cy="283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on va garder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le mois de </a:t>
            </a: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septembre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(le plus chargé)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le </a:t>
            </a: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jeudi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qui est la journée type la plus chargée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sur l'</a:t>
            </a: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HPS de 16h à 19h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pour l’homogénéité (ou 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l’HPM de 6h à 9)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     =&gt; 44.194 courses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1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21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3 -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1"/>
          <p:cNvSpPr txBox="1"/>
          <p:nvPr/>
        </p:nvSpPr>
        <p:spPr>
          <a:xfrm>
            <a:off x="250200" y="828600"/>
            <a:ext cx="8685000" cy="6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Pour réduire la taille des données tout en gardant une bonne représentativité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22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Premier modèle KMeans (jeudi sept 2014 HPS 16-19h)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45" name="Google Shape;145;p22"/>
          <p:cNvSpPr txBox="1"/>
          <p:nvPr/>
        </p:nvSpPr>
        <p:spPr>
          <a:xfrm>
            <a:off x="6408525" y="833300"/>
            <a:ext cx="2671800" cy="38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k = 20 clusters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metric=manhattan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1000 iterations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NYC trop compacte et concentrée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lecture difficile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difficulté sur le choix du nombre de clusters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sensible aux outliers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2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2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3 -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8" name="Google Shape;14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874925"/>
            <a:ext cx="6318207" cy="3895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23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Premier modèle KMeans (jeudi sept 2014 HPS 16-19h)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55" name="Google Shape;155;p23"/>
          <p:cNvSpPr txBox="1"/>
          <p:nvPr/>
        </p:nvSpPr>
        <p:spPr>
          <a:xfrm>
            <a:off x="5877250" y="874926"/>
            <a:ext cx="3194100" cy="362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affichage des </a:t>
            </a: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centroïdes</a:t>
            </a: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avec leurs poids respectifs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permet meilleure visu des hot-zones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préférable d’ajouter polygones des hot-zones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+ la densité des courses/m2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adaptation taille </a:t>
            </a: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centroïdes</a:t>
            </a:r>
            <a:r>
              <a:rPr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/ zoom</a:t>
            </a:r>
            <a:endParaRPr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3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23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3 -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p23" title="KMeans_1_centroid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874925"/>
            <a:ext cx="5366635" cy="3746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4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4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Amélioration du modèle</a:t>
            </a: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 : DBScan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65" name="Google Shape;165;p24"/>
          <p:cNvSpPr txBox="1"/>
          <p:nvPr/>
        </p:nvSpPr>
        <p:spPr>
          <a:xfrm>
            <a:off x="5923475" y="882725"/>
            <a:ext cx="3126600" cy="37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trouve de lui-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même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les clusters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élimine les outliers automatiquement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mais…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EPS_M=200m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MIN_SAMPLES=50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paramétrage 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très sensible pour obtenir un rendu correct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4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4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3 -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8" name="Google Shape;16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757200"/>
            <a:ext cx="5728717" cy="3966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25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Amélioration du modèle : HDBScan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75" name="Google Shape;175;p25"/>
          <p:cNvSpPr txBox="1"/>
          <p:nvPr/>
        </p:nvSpPr>
        <p:spPr>
          <a:xfrm>
            <a:off x="5688025" y="947750"/>
            <a:ext cx="3321000" cy="3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EPS_M 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varie automatiquement donc trouve mieux les densités différentes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méthode “leaf” : clusters plus granulaires moins stables moins gros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5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25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3 -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375" y="794700"/>
            <a:ext cx="5466776" cy="3914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6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26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Amélioration du modèle : H3 bining hexagonal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85" name="Google Shape;185;p26"/>
          <p:cNvSpPr txBox="1"/>
          <p:nvPr/>
        </p:nvSpPr>
        <p:spPr>
          <a:xfrm>
            <a:off x="6029475" y="947750"/>
            <a:ext cx="2958600" cy="3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simple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pas 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d’hyperparamètre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! hormis la taille de l’hexagone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calcul de la densité immédiat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visu plus précise des spots très denses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6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26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3 -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8" name="Google Shape;188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874925"/>
            <a:ext cx="5529140" cy="3746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7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27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Généralisation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95" name="Google Shape;195;p27"/>
          <p:cNvSpPr txBox="1"/>
          <p:nvPr/>
        </p:nvSpPr>
        <p:spPr>
          <a:xfrm>
            <a:off x="576900" y="1011175"/>
            <a:ext cx="7855800" cy="12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Par heure et par jour sur un dashboard Streamlit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https://jedha-project-06-uber-e5a6exs9vw6pv6o6onweus.streamlit.app/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7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27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3 -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BF9000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8"/>
          <p:cNvSpPr txBox="1"/>
          <p:nvPr/>
        </p:nvSpPr>
        <p:spPr>
          <a:xfrm>
            <a:off x="291625" y="2023850"/>
            <a:ext cx="846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Questions ?</a:t>
            </a:r>
            <a:endParaRPr sz="30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28"/>
          <p:cNvSpPr txBox="1"/>
          <p:nvPr/>
        </p:nvSpPr>
        <p:spPr>
          <a:xfrm>
            <a:off x="360000" y="193102"/>
            <a:ext cx="5591100" cy="10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Jedha - Data Science Fullstack</a:t>
            </a:r>
            <a:endParaRPr sz="30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00">
              <a:solidFill>
                <a:schemeClr val="lt1"/>
              </a:solidFill>
            </a:endParaRPr>
          </a:p>
        </p:txBody>
      </p:sp>
      <p:sp>
        <p:nvSpPr>
          <p:cNvPr id="204" name="Google Shape;204;p28"/>
          <p:cNvSpPr txBox="1"/>
          <p:nvPr/>
        </p:nvSpPr>
        <p:spPr>
          <a:xfrm>
            <a:off x="360000" y="691740"/>
            <a:ext cx="846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 Certification CDSD (Concepteur développeur en science des données)</a:t>
            </a:r>
            <a:endParaRPr sz="16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5" name="Google Shape;205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43100" y="360000"/>
            <a:ext cx="576900" cy="39278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6" name="Google Shape;206;p28"/>
          <p:cNvCxnSpPr/>
          <p:nvPr/>
        </p:nvCxnSpPr>
        <p:spPr>
          <a:xfrm>
            <a:off x="365400" y="1125299"/>
            <a:ext cx="84588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7" name="Google Shape;207;p28"/>
          <p:cNvSpPr txBox="1"/>
          <p:nvPr/>
        </p:nvSpPr>
        <p:spPr>
          <a:xfrm>
            <a:off x="291625" y="4743950"/>
            <a:ext cx="8528400" cy="2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Guillaume VIEL - 21 juillet 2026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